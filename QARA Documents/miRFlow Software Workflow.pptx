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40" autoAdjust="0"/>
  </p:normalViewPr>
  <p:slideViewPr>
    <p:cSldViewPr snapToGrid="0">
      <p:cViewPr varScale="1">
        <p:scale>
          <a:sx n="93" d="100"/>
          <a:sy n="93" d="100"/>
        </p:scale>
        <p:origin x="12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6BB1-9294-4A15-9594-C9778A4ED1D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30614-094D-43CC-8320-FA7F02C0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0614-094D-43CC-8320-FA7F02C04A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77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0614-094D-43CC-8320-FA7F02C04A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3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9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3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4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4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6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3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34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60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3BBDF-DD9D-B0F7-E359-01F9C953F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r>
              <a:rPr lang="en-US" sz="5800">
                <a:latin typeface="Consolas" panose="020B0609020204030204" pitchFamily="49" charset="0"/>
              </a:rPr>
              <a:t>miRFlow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A1774-89C0-B1BF-600E-A659C28CC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latin typeface="Consolas" panose="020B0609020204030204" pitchFamily="49" charset="0"/>
              </a:rPr>
              <a:t>Flow Chart illustrating the workflow, unit(s), and integration between units and system(s)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32C96C34-266E-F00B-8A8B-40888D26C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37" r="15533" b="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5D49C-BEA1-85F1-252A-E0F054390F0C}"/>
              </a:ext>
            </a:extLst>
          </p:cNvPr>
          <p:cNvSpPr txBox="1"/>
          <p:nvPr/>
        </p:nvSpPr>
        <p:spPr>
          <a:xfrm>
            <a:off x="223565" y="273909"/>
            <a:ext cx="354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 of the overarching goal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931CE-B3A7-A83F-EB37-CC0C97B0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075"/>
            <a:ext cx="6992326" cy="519185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AECA53-7500-B3B3-AED6-1DEFEE17CD63}"/>
              </a:ext>
            </a:extLst>
          </p:cNvPr>
          <p:cNvCxnSpPr/>
          <p:nvPr/>
        </p:nvCxnSpPr>
        <p:spPr>
          <a:xfrm flipV="1">
            <a:off x="6534364" y="458575"/>
            <a:ext cx="976045" cy="2130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726A24-991E-4B31-F463-DAB8B80E7C3D}"/>
              </a:ext>
            </a:extLst>
          </p:cNvPr>
          <p:cNvCxnSpPr/>
          <p:nvPr/>
        </p:nvCxnSpPr>
        <p:spPr>
          <a:xfrm>
            <a:off x="6534364" y="4510355"/>
            <a:ext cx="2034283" cy="1726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7CA8E87-7968-1F79-C91B-06363BEA7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898" y="1523831"/>
            <a:ext cx="4657066" cy="32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13B37-AAAD-F132-0BC1-52D334D529F0}"/>
              </a:ext>
            </a:extLst>
          </p:cNvPr>
          <p:cNvSpPr/>
          <p:nvPr/>
        </p:nvSpPr>
        <p:spPr>
          <a:xfrm>
            <a:off x="128016" y="324611"/>
            <a:ext cx="4434840" cy="203453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Software Context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Quantifies miRNA-based sandwich complexes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Converts assay fluorescence signals into clinically resolvable weighted scores/ratios (how likely is the miRNA presence)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Developed with reproducibility &amp; traceability in consideration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B19F9-D998-AF61-EBC7-E9CDA7E4B03F}"/>
              </a:ext>
            </a:extLst>
          </p:cNvPr>
          <p:cNvSpPr/>
          <p:nvPr/>
        </p:nvSpPr>
        <p:spPr>
          <a:xfrm>
            <a:off x="6297170" y="84582"/>
            <a:ext cx="5516878" cy="211408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Data Acquisition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AutoNum type="alphaUcParenBoth"/>
            </a:pPr>
            <a:r>
              <a:rPr lang="en-US" sz="1200" dirty="0">
                <a:solidFill>
                  <a:schemeClr val="tx1"/>
                </a:solidFill>
              </a:rPr>
              <a:t>FC Input: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Raw .fcs files (controls + patient)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(B) Confocal Microscopy Input (</a:t>
            </a:r>
            <a:r>
              <a:rPr lang="en-US" sz="1200" b="1" dirty="0">
                <a:solidFill>
                  <a:schemeClr val="tx1"/>
                </a:solidFill>
              </a:rPr>
              <a:t>Potentially</a:t>
            </a:r>
            <a:r>
              <a:rPr lang="en-US" sz="1200" dirty="0">
                <a:solidFill>
                  <a:schemeClr val="tx1"/>
                </a:solidFill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Per-event fluorescence intensity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Spatial fluorescence heterogeneity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Image-derived binding metrics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(look up a bit more on what these terms mean contextually)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BC5A93-B6A6-6F09-8AE3-863BD0CD4C91}"/>
              </a:ext>
            </a:extLst>
          </p:cNvPr>
          <p:cNvCxnSpPr>
            <a:cxnSpLocks/>
          </p:cNvCxnSpPr>
          <p:nvPr/>
        </p:nvCxnSpPr>
        <p:spPr>
          <a:xfrm>
            <a:off x="4751832" y="1333881"/>
            <a:ext cx="123444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3C0C210-0A87-F63C-59E1-D0CB9947388C}"/>
              </a:ext>
            </a:extLst>
          </p:cNvPr>
          <p:cNvSpPr/>
          <p:nvPr/>
        </p:nvSpPr>
        <p:spPr>
          <a:xfrm>
            <a:off x="215760" y="2602101"/>
            <a:ext cx="8167952" cy="404596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FC Data Visualiser Module</a:t>
            </a:r>
          </a:p>
          <a:p>
            <a:pPr algn="ctr"/>
            <a:endParaRPr lang="en-US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Read every .fcs file on assigned folder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Auto-detect FSC-H (size) and B525-H (fluorescence) channels by default; channels can be changed if poor default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Apply logicle transformation to each or fallback to </a:t>
            </a:r>
            <a:r>
              <a:rPr lang="en-US" sz="1050" dirty="0" err="1">
                <a:solidFill>
                  <a:schemeClr val="tx1"/>
                </a:solidFill>
              </a:rPr>
              <a:t>asinh</a:t>
            </a:r>
            <a:r>
              <a:rPr lang="en-US" sz="1050" dirty="0">
                <a:solidFill>
                  <a:schemeClr val="tx1"/>
                </a:solidFill>
              </a:rPr>
              <a:t> transformation (hyperbolic sine function)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Save 1D and 2D plots per file as .PNG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Size vs density for MMB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Size vs density for DG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Fluorescence vs density for MMB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Fluorescence vs density for DG (1D)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Size vs Fluorescence for MMB (2D)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Size vs Fluorescence for DG (2D)</a:t>
            </a:r>
            <a:endParaRPr lang="en-US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Results in transformed, </a:t>
            </a:r>
            <a:r>
              <a:rPr lang="en-US" sz="1050" dirty="0" err="1">
                <a:solidFill>
                  <a:schemeClr val="tx1"/>
                </a:solidFill>
              </a:rPr>
              <a:t>standardised</a:t>
            </a:r>
            <a:r>
              <a:rPr lang="en-US" sz="1050" dirty="0">
                <a:solidFill>
                  <a:schemeClr val="tx1"/>
                </a:solidFill>
              </a:rPr>
              <a:t> event-level data replicating </a:t>
            </a:r>
            <a:r>
              <a:rPr lang="en-US" sz="1050" dirty="0" err="1">
                <a:solidFill>
                  <a:schemeClr val="tx1"/>
                </a:solidFill>
              </a:rPr>
              <a:t>FlowJo</a:t>
            </a:r>
            <a:r>
              <a:rPr lang="en-US" sz="1050" dirty="0">
                <a:solidFill>
                  <a:schemeClr val="tx1"/>
                </a:solidFill>
              </a:rPr>
              <a:t> (Gold standard for FC data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__</a:t>
            </a:r>
            <a:r>
              <a:rPr lang="en-US" sz="1050" dirty="0" err="1">
                <a:solidFill>
                  <a:schemeClr val="tx1"/>
                </a:solidFill>
              </a:rPr>
              <a:t>future__.annotations</a:t>
            </a:r>
            <a:r>
              <a:rPr lang="en-US" sz="105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Pathlib</a:t>
            </a:r>
            <a:r>
              <a:rPr lang="en-US" sz="1050" dirty="0">
                <a:solidFill>
                  <a:schemeClr val="tx1"/>
                </a:solidFill>
              </a:rPr>
              <a:t> – Robust Windows path handling (input/output folders).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sys / </a:t>
            </a:r>
            <a:r>
              <a:rPr lang="en-US" sz="1050" dirty="0" err="1">
                <a:solidFill>
                  <a:schemeClr val="tx1"/>
                </a:solidFill>
              </a:rPr>
              <a:t>os</a:t>
            </a:r>
            <a:r>
              <a:rPr lang="en-US" sz="1050" dirty="0">
                <a:solidFill>
                  <a:schemeClr val="tx1"/>
                </a:solidFill>
              </a:rPr>
              <a:t> / math – Runtime info, controlled exits, and grid layout calculations.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NumPy – Numerical arrays, masking, transformations, </a:t>
            </a:r>
            <a:r>
              <a:rPr lang="en-US" sz="1050" dirty="0" err="1">
                <a:solidFill>
                  <a:schemeClr val="tx1"/>
                </a:solidFill>
              </a:rPr>
              <a:t>downsampling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Pandas – </a:t>
            </a:r>
            <a:r>
              <a:rPr lang="en-US" sz="1050" dirty="0" err="1">
                <a:solidFill>
                  <a:schemeClr val="tx1"/>
                </a:solidFill>
              </a:rPr>
              <a:t>DataFrame</a:t>
            </a:r>
            <a:r>
              <a:rPr lang="en-US" sz="1050" dirty="0">
                <a:solidFill>
                  <a:schemeClr val="tx1"/>
                </a:solidFill>
              </a:rPr>
              <a:t> handling of parsed .fcs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Matplotlib (Agg backend) – Generate and save PNG scatter plots without GUI.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fcsparser</a:t>
            </a:r>
            <a:r>
              <a:rPr lang="en-US" sz="1050" dirty="0">
                <a:solidFill>
                  <a:schemeClr val="tx1"/>
                </a:solidFill>
              </a:rPr>
              <a:t> – Read .fcs files into </a:t>
            </a:r>
            <a:r>
              <a:rPr lang="en-US" sz="1050" dirty="0" err="1">
                <a:solidFill>
                  <a:schemeClr val="tx1"/>
                </a:solidFill>
              </a:rPr>
              <a:t>DataFrames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flowutils.logicle</a:t>
            </a:r>
            <a:r>
              <a:rPr lang="en-US" sz="1050" dirty="0">
                <a:solidFill>
                  <a:schemeClr val="tx1"/>
                </a:solidFill>
              </a:rPr>
              <a:t> (optional) – Logicle transform for flow cytometry scaling (with </a:t>
            </a:r>
            <a:r>
              <a:rPr lang="en-US" sz="1050" dirty="0" err="1">
                <a:solidFill>
                  <a:schemeClr val="tx1"/>
                </a:solidFill>
              </a:rPr>
              <a:t>asinh</a:t>
            </a:r>
            <a:r>
              <a:rPr lang="en-US" sz="1050" dirty="0">
                <a:solidFill>
                  <a:schemeClr val="tx1"/>
                </a:solidFill>
              </a:rPr>
              <a:t> fallback).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02A7CE-1C06-D4CE-E35B-8BFB0D33D7C2}"/>
              </a:ext>
            </a:extLst>
          </p:cNvPr>
          <p:cNvCxnSpPr>
            <a:cxnSpLocks/>
          </p:cNvCxnSpPr>
          <p:nvPr/>
        </p:nvCxnSpPr>
        <p:spPr>
          <a:xfrm>
            <a:off x="6096000" y="6648064"/>
            <a:ext cx="0" cy="20993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85C47D-C332-00DE-CC91-649C7441395E}"/>
              </a:ext>
            </a:extLst>
          </p:cNvPr>
          <p:cNvCxnSpPr>
            <a:cxnSpLocks/>
          </p:cNvCxnSpPr>
          <p:nvPr/>
        </p:nvCxnSpPr>
        <p:spPr>
          <a:xfrm>
            <a:off x="7133725" y="2205033"/>
            <a:ext cx="0" cy="42124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5D2AF0C-9AD3-92BD-9008-AB77111635B1}"/>
              </a:ext>
            </a:extLst>
          </p:cNvPr>
          <p:cNvSpPr/>
          <p:nvPr/>
        </p:nvSpPr>
        <p:spPr>
          <a:xfrm>
            <a:off x="8927182" y="2716776"/>
            <a:ext cx="3141526" cy="38166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FCS Output </a:t>
            </a:r>
            <a:r>
              <a:rPr lang="en-US" sz="1400" b="1" u="sng" dirty="0" err="1">
                <a:solidFill>
                  <a:schemeClr val="tx1"/>
                </a:solidFill>
              </a:rPr>
              <a:t>Organiser</a:t>
            </a:r>
            <a:r>
              <a:rPr lang="en-US" sz="1400" b="1" u="sng" dirty="0">
                <a:solidFill>
                  <a:schemeClr val="tx1"/>
                </a:solidFill>
              </a:rPr>
              <a:t> Module</a:t>
            </a:r>
          </a:p>
          <a:p>
            <a:endParaRPr lang="en-US" sz="14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Scans predefined folders containing previously generated: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2D plots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2D plots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1D plots (size + fluorescence)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1D plots (size vs fluorescence)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Groups related PNGs together in same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Saves additional ‘All samples’ overview grid .PNG containing all plots arranged together: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Fluorescence Overview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Size Overview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2D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Fluorescence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Size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2D Overview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84BD99-9EF4-E3FF-D779-385A3DD0D5EE}"/>
              </a:ext>
            </a:extLst>
          </p:cNvPr>
          <p:cNvCxnSpPr/>
          <p:nvPr/>
        </p:nvCxnSpPr>
        <p:spPr>
          <a:xfrm flipH="1">
            <a:off x="8383712" y="4222679"/>
            <a:ext cx="48288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1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8F307A-AF10-BE53-D40A-A61A336CFF59}"/>
              </a:ext>
            </a:extLst>
          </p:cNvPr>
          <p:cNvCxnSpPr/>
          <p:nvPr/>
        </p:nvCxnSpPr>
        <p:spPr>
          <a:xfrm>
            <a:off x="5733288" y="0"/>
            <a:ext cx="0" cy="4754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43F457-7A04-F578-713D-F134E07CBA10}"/>
              </a:ext>
            </a:extLst>
          </p:cNvPr>
          <p:cNvCxnSpPr>
            <a:cxnSpLocks/>
          </p:cNvCxnSpPr>
          <p:nvPr/>
        </p:nvCxnSpPr>
        <p:spPr>
          <a:xfrm>
            <a:off x="1517904" y="475488"/>
            <a:ext cx="833018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8EB436-125E-5D3A-9888-22D07DD9A773}"/>
              </a:ext>
            </a:extLst>
          </p:cNvPr>
          <p:cNvCxnSpPr>
            <a:cxnSpLocks/>
          </p:cNvCxnSpPr>
          <p:nvPr/>
        </p:nvCxnSpPr>
        <p:spPr>
          <a:xfrm>
            <a:off x="1508760" y="475488"/>
            <a:ext cx="0" cy="55192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6804C9-E290-2D22-DADB-2D70996572DB}"/>
              </a:ext>
            </a:extLst>
          </p:cNvPr>
          <p:cNvCxnSpPr/>
          <p:nvPr/>
        </p:nvCxnSpPr>
        <p:spPr>
          <a:xfrm>
            <a:off x="9848088" y="475488"/>
            <a:ext cx="0" cy="71323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FAD8BA3-D8EC-13DA-A295-E0529736F456}"/>
              </a:ext>
            </a:extLst>
          </p:cNvPr>
          <p:cNvSpPr/>
          <p:nvPr/>
        </p:nvSpPr>
        <p:spPr>
          <a:xfrm>
            <a:off x="118870" y="1045652"/>
            <a:ext cx="4745735" cy="1155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Branch A: Efficient Signal Segmentation (FC)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Control-derived gating for event classification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43028-2EB7-CD00-BA58-FAF6350B99F2}"/>
              </a:ext>
            </a:extLst>
          </p:cNvPr>
          <p:cNvSpPr/>
          <p:nvPr/>
        </p:nvSpPr>
        <p:spPr>
          <a:xfrm>
            <a:off x="118870" y="2753474"/>
            <a:ext cx="11655313" cy="39144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Global Gating Module: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all .fcs files from defined folder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Auto-detects the FSC-H and B525-H channels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Applies logicle transformation with </a:t>
            </a:r>
            <a:r>
              <a:rPr lang="en-US" sz="1400" dirty="0" err="1">
                <a:solidFill>
                  <a:schemeClr val="tx1"/>
                </a:solidFill>
              </a:rPr>
              <a:t>asinh</a:t>
            </a:r>
            <a:r>
              <a:rPr lang="en-US" sz="1400" dirty="0">
                <a:solidFill>
                  <a:schemeClr val="tx1"/>
                </a:solidFill>
              </a:rPr>
              <a:t> fallback (same as FC Data Ingestion &amp; Visualiser Module)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Derives per-file gating boundaries from Gaussian KDE-based density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(</a:t>
            </a:r>
            <a:r>
              <a:rPr lang="en-US" sz="1400" i="1" dirty="0">
                <a:solidFill>
                  <a:schemeClr val="tx1"/>
                </a:solidFill>
              </a:rPr>
              <a:t>statistical reasoning not extensively included here</a:t>
            </a:r>
            <a:r>
              <a:rPr lang="en-US" sz="1400" dirty="0">
                <a:solidFill>
                  <a:schemeClr val="tx1"/>
                </a:solidFill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FSC-H window from controls (MMB size)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 [Lower Bound, Upper Bound]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B526-H window from controls (DG fluorescence)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 [Lower Bound, Upper Bound]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is saved as a .JSON file titled </a:t>
            </a:r>
            <a:r>
              <a:rPr lang="en-US" sz="1400" b="1" i="1" dirty="0">
                <a:solidFill>
                  <a:schemeClr val="tx1"/>
                </a:solidFill>
              </a:rPr>
              <a:t>‘</a:t>
            </a:r>
            <a:r>
              <a:rPr lang="en-US" sz="14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1400" b="1" i="1" dirty="0">
                <a:solidFill>
                  <a:schemeClr val="tx1"/>
                </a:solidFill>
              </a:rPr>
              <a:t>’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Pathlib</a:t>
            </a:r>
            <a:r>
              <a:rPr lang="en-US" sz="1400" dirty="0">
                <a:solidFill>
                  <a:schemeClr val="tx1"/>
                </a:solidFill>
              </a:rPr>
              <a:t> for robust Windows paths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NumPy/Pandas for data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Matplotlib (Agg backend) to save PNGs without opening GUI 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SciPy Gaussian KDE for smooth density estimation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SciPy </a:t>
            </a:r>
            <a:r>
              <a:rPr lang="en-US" sz="1400" dirty="0" err="1">
                <a:solidFill>
                  <a:schemeClr val="tx1"/>
                </a:solidFill>
              </a:rPr>
              <a:t>find_peaks</a:t>
            </a:r>
            <a:r>
              <a:rPr lang="en-US" sz="1400" dirty="0">
                <a:solidFill>
                  <a:schemeClr val="tx1"/>
                </a:solidFill>
              </a:rPr>
              <a:t> for robust detection of subtle bumps on DG fluorescence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fcsparser</a:t>
            </a:r>
            <a:r>
              <a:rPr lang="en-US" sz="1400" dirty="0">
                <a:solidFill>
                  <a:schemeClr val="tx1"/>
                </a:solidFill>
              </a:rPr>
              <a:t> to load .fcs into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482671-A656-8D78-F7D4-DD2BB61DECF7}"/>
              </a:ext>
            </a:extLst>
          </p:cNvPr>
          <p:cNvCxnSpPr>
            <a:cxnSpLocks/>
          </p:cNvCxnSpPr>
          <p:nvPr/>
        </p:nvCxnSpPr>
        <p:spPr>
          <a:xfrm>
            <a:off x="1391018" y="2201547"/>
            <a:ext cx="0" cy="55192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FAACAD-108F-0DE3-4047-AF875E413750}"/>
              </a:ext>
            </a:extLst>
          </p:cNvPr>
          <p:cNvCxnSpPr/>
          <p:nvPr/>
        </p:nvCxnSpPr>
        <p:spPr>
          <a:xfrm>
            <a:off x="5486400" y="6667927"/>
            <a:ext cx="0" cy="19007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C0ED4D1-D684-84AB-837C-B49E24B44AFA}"/>
              </a:ext>
            </a:extLst>
          </p:cNvPr>
          <p:cNvSpPr/>
          <p:nvPr/>
        </p:nvSpPr>
        <p:spPr>
          <a:xfrm>
            <a:off x="7327395" y="1162699"/>
            <a:ext cx="4745735" cy="1155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Branch B: Image-based Event Weighting (ML)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Multi-modal classification of events to improve accuracy (work to be done)</a:t>
            </a:r>
          </a:p>
        </p:txBody>
      </p:sp>
    </p:spTree>
    <p:extLst>
      <p:ext uri="{BB962C8B-B14F-4D97-AF65-F5344CB8AC3E}">
        <p14:creationId xmlns:p14="http://schemas.microsoft.com/office/powerpoint/2010/main" val="34013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0AAB6-4FDE-6C47-79F6-D46D5B548EFF}"/>
              </a:ext>
            </a:extLst>
          </p:cNvPr>
          <p:cNvSpPr/>
          <p:nvPr/>
        </p:nvSpPr>
        <p:spPr>
          <a:xfrm>
            <a:off x="268343" y="708917"/>
            <a:ext cx="11655313" cy="5640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MMB Boundaries Extractor Module:</a:t>
            </a:r>
          </a:p>
          <a:p>
            <a:endParaRPr lang="en-US" sz="14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Loads all .fcs files in specified input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Filters to MMB-only files labelled like: 3MMB_1.fcs, 6MMB_2.fcs, 8MMB_3.fcs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Auto-detects size channel (FSC-H)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Applies Logicle transform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 each file: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Builds a Gaussian KDE of FSC-H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Finds the dominant peak (density corresponding to highest FSC-H)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Computes the LEFT shoulder FSC-H value where KDE drops to 5% of peak density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Saved as ‘</a:t>
            </a:r>
            <a:r>
              <a:rPr lang="en-US" sz="1100" dirty="0" err="1">
                <a:solidFill>
                  <a:schemeClr val="tx1"/>
                </a:solidFill>
              </a:rPr>
              <a:t>start_fsc</a:t>
            </a:r>
            <a:r>
              <a:rPr lang="en-US" sz="1100" dirty="0">
                <a:solidFill>
                  <a:schemeClr val="tx1"/>
                </a:solidFill>
              </a:rPr>
              <a:t>’ for that bead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 each bead class, the median ‘</a:t>
            </a:r>
            <a:r>
              <a:rPr lang="en-US" sz="1100" dirty="0" err="1">
                <a:solidFill>
                  <a:schemeClr val="tx1"/>
                </a:solidFill>
              </a:rPr>
              <a:t>start_fsc</a:t>
            </a:r>
            <a:r>
              <a:rPr lang="en-US" sz="1100" dirty="0">
                <a:solidFill>
                  <a:schemeClr val="tx1"/>
                </a:solidFill>
              </a:rPr>
              <a:t>’ is computed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Thus, the recommended boundaries received are as follows, integrating with the global MMB size window </a:t>
            </a:r>
            <a:r>
              <a:rPr lang="en-US" sz="1100" b="1" i="1" dirty="0">
                <a:solidFill>
                  <a:schemeClr val="tx1"/>
                </a:solidFill>
              </a:rPr>
              <a:t>(</a:t>
            </a:r>
            <a:r>
              <a:rPr lang="en-US" sz="11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1100" b="1" i="1" dirty="0">
                <a:solidFill>
                  <a:schemeClr val="tx1"/>
                </a:solidFill>
              </a:rPr>
              <a:t>)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3 = [Lower Bound of Global MMB,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6 = [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6,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8 = [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8, Upper Bound of Global MMB]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Quality Check: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= Lower Bound of Global MMB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 is a .JSON file titled </a:t>
            </a:r>
            <a:r>
              <a:rPr lang="en-US" sz="1100" b="1" i="1" dirty="0">
                <a:solidFill>
                  <a:schemeClr val="tx1"/>
                </a:solidFill>
              </a:rPr>
              <a:t>‘</a:t>
            </a:r>
            <a:r>
              <a:rPr lang="en-US" sz="1100" b="1" i="1" dirty="0" err="1">
                <a:solidFill>
                  <a:schemeClr val="tx1"/>
                </a:solidFill>
              </a:rPr>
              <a:t>mmb_fsc_thresholds.json</a:t>
            </a:r>
            <a:r>
              <a:rPr lang="en-US" sz="1100" b="1" i="1" dirty="0">
                <a:solidFill>
                  <a:schemeClr val="tx1"/>
                </a:solidFill>
              </a:rPr>
              <a:t>’ </a:t>
            </a:r>
            <a:r>
              <a:rPr lang="en-US" sz="1100" dirty="0">
                <a:solidFill>
                  <a:schemeClr val="tx1"/>
                </a:solidFill>
              </a:rPr>
              <a:t>consists of per bead size and per file breakdown metrics</a:t>
            </a:r>
            <a:endParaRPr lang="en-US" sz="1100" b="1" i="1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__</a:t>
            </a:r>
            <a:r>
              <a:rPr lang="en-US" sz="1100" dirty="0" err="1">
                <a:solidFill>
                  <a:schemeClr val="tx1"/>
                </a:solidFill>
              </a:rPr>
              <a:t>future__.annotations</a:t>
            </a:r>
            <a:r>
              <a:rPr lang="en-US" sz="110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Pathlib</a:t>
            </a:r>
            <a:r>
              <a:rPr lang="en-US" sz="1100" dirty="0">
                <a:solidFill>
                  <a:schemeClr val="tx1"/>
                </a:solidFill>
              </a:rPr>
              <a:t> – Robust filesystem path handling (input/output directories, JSON path).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argparse</a:t>
            </a:r>
            <a:r>
              <a:rPr lang="en-US" sz="1100" dirty="0">
                <a:solidFill>
                  <a:schemeClr val="tx1"/>
                </a:solidFill>
              </a:rPr>
              <a:t> – Command-line argument parsing (input/output paths, thresholds, parameters).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json – Export structured threshold results to JSON.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NumPy – Numerical operations, arrays, medians, quantiles, masking.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Pandas – </a:t>
            </a:r>
            <a:r>
              <a:rPr lang="en-US" sz="1100" dirty="0" err="1">
                <a:solidFill>
                  <a:schemeClr val="tx1"/>
                </a:solidFill>
              </a:rPr>
              <a:t>DataFrame</a:t>
            </a:r>
            <a:r>
              <a:rPr lang="en-US" sz="1100" dirty="0">
                <a:solidFill>
                  <a:schemeClr val="tx1"/>
                </a:solidFill>
              </a:rPr>
              <a:t> handling of parsed .fcs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SciPy (</a:t>
            </a:r>
            <a:r>
              <a:rPr lang="en-US" sz="1100" dirty="0" err="1">
                <a:solidFill>
                  <a:schemeClr val="tx1"/>
                </a:solidFill>
              </a:rPr>
              <a:t>gaussian_kde</a:t>
            </a:r>
            <a:r>
              <a:rPr lang="en-US" sz="1100" dirty="0">
                <a:solidFill>
                  <a:schemeClr val="tx1"/>
                </a:solidFill>
              </a:rPr>
              <a:t>) – KDE density estimation for dominant peak and shoulder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fcsparser</a:t>
            </a:r>
            <a:r>
              <a:rPr lang="en-US" sz="1100" dirty="0">
                <a:solidFill>
                  <a:schemeClr val="tx1"/>
                </a:solidFill>
              </a:rPr>
              <a:t> – Read .fcs flow cytometry files into </a:t>
            </a:r>
            <a:r>
              <a:rPr lang="en-US" sz="1100" dirty="0" err="1">
                <a:solidFill>
                  <a:schemeClr val="tx1"/>
                </a:solidFill>
              </a:rPr>
              <a:t>DataFrames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flowutils.logicle</a:t>
            </a:r>
            <a:r>
              <a:rPr lang="en-US" sz="1100" dirty="0">
                <a:solidFill>
                  <a:schemeClr val="tx1"/>
                </a:solidFill>
              </a:rPr>
              <a:t> (required) – Logicle transformation for FSC scaling (mandatory for threshold derivation).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8DD19A-A8C1-0F05-D9B3-7FCAD8E4C4E6}"/>
              </a:ext>
            </a:extLst>
          </p:cNvPr>
          <p:cNvCxnSpPr/>
          <p:nvPr/>
        </p:nvCxnSpPr>
        <p:spPr>
          <a:xfrm>
            <a:off x="6096000" y="0"/>
            <a:ext cx="0" cy="61644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260C9-E99F-75DE-66BC-8AC4AC16DAD5}"/>
              </a:ext>
            </a:extLst>
          </p:cNvPr>
          <p:cNvCxnSpPr/>
          <p:nvPr/>
        </p:nvCxnSpPr>
        <p:spPr>
          <a:xfrm>
            <a:off x="6256962" y="6349429"/>
            <a:ext cx="0" cy="5085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81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9A9A1-0565-4B83-2F54-3B04304D3859}"/>
              </a:ext>
            </a:extLst>
          </p:cNvPr>
          <p:cNvSpPr/>
          <p:nvPr/>
        </p:nvSpPr>
        <p:spPr>
          <a:xfrm>
            <a:off x="268343" y="339047"/>
            <a:ext cx="11923657" cy="62055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GMM Probabilistic Clustering Module</a:t>
            </a:r>
          </a:p>
          <a:p>
            <a:endParaRPr lang="en-US" sz="105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each patient .fcs file: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Apply Logicle transform (</a:t>
            </a:r>
            <a:r>
              <a:rPr lang="en-US" sz="900" dirty="0" err="1">
                <a:solidFill>
                  <a:schemeClr val="tx1"/>
                </a:solidFill>
              </a:rPr>
              <a:t>flowutils</a:t>
            </a:r>
            <a:r>
              <a:rPr lang="en-US" sz="900" dirty="0">
                <a:solidFill>
                  <a:schemeClr val="tx1"/>
                </a:solidFill>
              </a:rPr>
              <a:t>) with </a:t>
            </a:r>
            <a:r>
              <a:rPr lang="en-US" sz="900" dirty="0" err="1">
                <a:solidFill>
                  <a:schemeClr val="tx1"/>
                </a:solidFill>
              </a:rPr>
              <a:t>asinh</a:t>
            </a:r>
            <a:r>
              <a:rPr lang="en-US" sz="900" dirty="0">
                <a:solidFill>
                  <a:schemeClr val="tx1"/>
                </a:solidFill>
              </a:rPr>
              <a:t> fallback as back-up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Apply ROI gating (control-derived global windows) from </a:t>
            </a:r>
            <a:r>
              <a:rPr lang="en-US" sz="900" b="1" i="1" dirty="0">
                <a:solidFill>
                  <a:schemeClr val="tx1"/>
                </a:solidFill>
              </a:rPr>
              <a:t>‘</a:t>
            </a:r>
            <a:r>
              <a:rPr lang="en-US" sz="9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900" b="1" i="1" dirty="0">
                <a:solidFill>
                  <a:schemeClr val="tx1"/>
                </a:solidFill>
              </a:rPr>
              <a:t>’</a:t>
            </a:r>
            <a:r>
              <a:rPr lang="en-US" sz="900" b="1" dirty="0">
                <a:solidFill>
                  <a:schemeClr val="tx1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Size in [MMB_LOW, MMB_HIGH]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Fluorescence  in [DG_LOW,  DG_HIGH]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Assign bead boundaries deterministically using FSC thresholds as dictated in ‘</a:t>
            </a:r>
            <a:r>
              <a:rPr lang="en-US" sz="900" b="1" i="1" dirty="0" err="1">
                <a:solidFill>
                  <a:schemeClr val="tx1"/>
                </a:solidFill>
              </a:rPr>
              <a:t>mmb_fsc_thresholds.json</a:t>
            </a:r>
            <a:r>
              <a:rPr lang="en-US" sz="900" b="1" i="1" dirty="0">
                <a:solidFill>
                  <a:schemeClr val="tx1"/>
                </a:solidFill>
              </a:rPr>
              <a:t>’</a:t>
            </a:r>
            <a:endParaRPr lang="en-US" sz="9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each sample(patient) bead size, fit 1D GMM posterior probabilities on fluorescence only within the ROI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Default: 3 components (only MMB/ sandwich MMB/ multi MMB aggregate)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Live patient DG fluorescence data will be used to determine a low mean (q25), mid-mean (q50), and high-mean (q75)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Soft </a:t>
            </a:r>
            <a:r>
              <a:rPr lang="en-US" sz="900" dirty="0" err="1">
                <a:solidFill>
                  <a:schemeClr val="tx1"/>
                </a:solidFill>
              </a:rPr>
              <a:t>Assigment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 low-mean: only MMB, mid-mean: sandwich MMB, high mean: </a:t>
            </a:r>
            <a:r>
              <a:rPr lang="en-US" sz="900" dirty="0" err="1">
                <a:solidFill>
                  <a:schemeClr val="tx1"/>
                </a:solidFill>
                <a:sym typeface="Wingdings" panose="05000000000000000000" pitchFamily="2" charset="2"/>
              </a:rPr>
              <a:t>mutli</a:t>
            </a: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-MMB aggregate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Results in 9 clusters as follows: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MMB-3  only, sandwich, multi-aggregate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MMB-6  only, sandwich, multi-aggregate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MMB-8  only, sandwich, multi-aggregate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Exception 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if too few events for stable 3-comp, fall back to 2-comp (only MMB/sandwich MMB), multi=0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Exception B: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q25, q50, and q75 chosen heuristically, the percentile boundaries can be changed as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very unimodal distributions (fluorescence), if q25, q50, and q75 are too close, they will be adjusted by the introduction of ε(1e-6) to prevent model from collapsing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per-patient 2D plot (ROI only): x = B525-H (fluorescence), y = FSC-H (size), colored by 9 clusters + 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MMB gate/boundary lines for interpretability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per-patient JSON summary (counts + posterior-weighted expected counts, efficiencies)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one overview GRID </a:t>
            </a:r>
            <a:r>
              <a:rPr lang="en-US" sz="900" dirty="0" err="1">
                <a:solidFill>
                  <a:schemeClr val="tx1"/>
                </a:solidFill>
              </a:rPr>
              <a:t>png</a:t>
            </a:r>
            <a:r>
              <a:rPr lang="en-US" sz="900" dirty="0">
                <a:solidFill>
                  <a:schemeClr val="tx1"/>
                </a:solidFill>
              </a:rPr>
              <a:t> with all patient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 master CSV across all patients (one row per patient x bead size + overall row, i.e., everything in .JSON but collated and easy to follow 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u="sng" dirty="0">
                <a:solidFill>
                  <a:schemeClr val="tx1"/>
                </a:solidFill>
              </a:rPr>
              <a:t>Imports: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__</a:t>
            </a:r>
            <a:r>
              <a:rPr lang="en-US" sz="900" dirty="0" err="1">
                <a:solidFill>
                  <a:schemeClr val="tx1"/>
                </a:solidFill>
              </a:rPr>
              <a:t>future__.annotations</a:t>
            </a:r>
            <a:r>
              <a:rPr lang="en-US" sz="90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Pathlib</a:t>
            </a:r>
            <a:r>
              <a:rPr lang="en-US" sz="900" dirty="0">
                <a:solidFill>
                  <a:schemeClr val="tx1"/>
                </a:solidFill>
              </a:rPr>
              <a:t> – Robust filesystem path management (JSON, FCS, output folders).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os</a:t>
            </a:r>
            <a:r>
              <a:rPr lang="en-US" sz="900" dirty="0">
                <a:solidFill>
                  <a:schemeClr val="tx1"/>
                </a:solidFill>
              </a:rPr>
              <a:t> / sys / json / math – Runtime info, controlled exits, JSON I/O, grid layout calculations.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dataclasses</a:t>
            </a:r>
            <a:r>
              <a:rPr lang="en-US" sz="900" dirty="0">
                <a:solidFill>
                  <a:schemeClr val="tx1"/>
                </a:solidFill>
              </a:rPr>
              <a:t> (@dataclass) – Structured storage of per-bead GMM fit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typing (</a:t>
            </a:r>
            <a:r>
              <a:rPr lang="en-US" sz="900" dirty="0" err="1">
                <a:solidFill>
                  <a:schemeClr val="tx1"/>
                </a:solidFill>
              </a:rPr>
              <a:t>Dict</a:t>
            </a:r>
            <a:r>
              <a:rPr lang="en-US" sz="900" dirty="0">
                <a:solidFill>
                  <a:schemeClr val="tx1"/>
                </a:solidFill>
              </a:rPr>
              <a:t>, Tuple, List, Optional) – Static type clarity for function signatures.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NumPy – Numerical arrays, masking, percentiles, posterior calculations, </a:t>
            </a:r>
            <a:r>
              <a:rPr lang="en-US" sz="900" dirty="0" err="1">
                <a:solidFill>
                  <a:schemeClr val="tx1"/>
                </a:solidFill>
              </a:rPr>
              <a:t>downsampling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Pandas – Create and export master CSV summary tables.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Matplotlib (Agg backend) – Generate and save per-patient cluster plots and overview grid PNGs without GUI.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fcsparser</a:t>
            </a:r>
            <a:r>
              <a:rPr lang="en-US" sz="900" dirty="0">
                <a:solidFill>
                  <a:schemeClr val="tx1"/>
                </a:solidFill>
              </a:rPr>
              <a:t> – Read .fcs flow cytometry files into </a:t>
            </a:r>
            <a:r>
              <a:rPr lang="en-US" sz="900" dirty="0" err="1">
                <a:solidFill>
                  <a:schemeClr val="tx1"/>
                </a:solidFill>
              </a:rPr>
              <a:t>DataFrames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scikit-learn (</a:t>
            </a:r>
            <a:r>
              <a:rPr lang="en-US" sz="900" dirty="0" err="1">
                <a:solidFill>
                  <a:schemeClr val="tx1"/>
                </a:solidFill>
              </a:rPr>
              <a:t>GaussianMixture</a:t>
            </a:r>
            <a:r>
              <a:rPr lang="en-US" sz="900" dirty="0">
                <a:solidFill>
                  <a:schemeClr val="tx1"/>
                </a:solidFill>
              </a:rPr>
              <a:t>) – Perform 1D GMM clustering for tri-state bead classification.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flowutils.logicle</a:t>
            </a:r>
            <a:r>
              <a:rPr lang="en-US" sz="900" dirty="0">
                <a:solidFill>
                  <a:schemeClr val="tx1"/>
                </a:solidFill>
              </a:rPr>
              <a:t> (optional) – Logicle transformation for cytometry scaling (with </a:t>
            </a:r>
            <a:r>
              <a:rPr lang="en-US" sz="900" dirty="0" err="1">
                <a:solidFill>
                  <a:schemeClr val="tx1"/>
                </a:solidFill>
              </a:rPr>
              <a:t>asinh</a:t>
            </a:r>
            <a:r>
              <a:rPr lang="en-US" sz="900" dirty="0">
                <a:solidFill>
                  <a:schemeClr val="tx1"/>
                </a:solidFill>
              </a:rPr>
              <a:t> fallback).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89D35C-FD19-05D2-AE73-72D23F01406C}"/>
              </a:ext>
            </a:extLst>
          </p:cNvPr>
          <p:cNvCxnSpPr>
            <a:cxnSpLocks/>
          </p:cNvCxnSpPr>
          <p:nvPr/>
        </p:nvCxnSpPr>
        <p:spPr>
          <a:xfrm>
            <a:off x="5845996" y="0"/>
            <a:ext cx="0" cy="33904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2B0384-F8C6-B692-199A-8EE30ECC7A82}"/>
              </a:ext>
            </a:extLst>
          </p:cNvPr>
          <p:cNvCxnSpPr/>
          <p:nvPr/>
        </p:nvCxnSpPr>
        <p:spPr>
          <a:xfrm>
            <a:off x="5845996" y="6544638"/>
            <a:ext cx="0" cy="3133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2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639540-91F2-6610-B16D-12F353801504}"/>
              </a:ext>
            </a:extLst>
          </p:cNvPr>
          <p:cNvCxnSpPr>
            <a:cxnSpLocks/>
          </p:cNvCxnSpPr>
          <p:nvPr/>
        </p:nvCxnSpPr>
        <p:spPr>
          <a:xfrm>
            <a:off x="1099335" y="0"/>
            <a:ext cx="0" cy="99659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D39E50-24CA-3915-C797-BC0701822B46}"/>
              </a:ext>
            </a:extLst>
          </p:cNvPr>
          <p:cNvCxnSpPr/>
          <p:nvPr/>
        </p:nvCxnSpPr>
        <p:spPr>
          <a:xfrm>
            <a:off x="1099335" y="996592"/>
            <a:ext cx="886659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1D4B36A-28CD-0600-AA09-0C8417993C6B}"/>
              </a:ext>
            </a:extLst>
          </p:cNvPr>
          <p:cNvSpPr/>
          <p:nvPr/>
        </p:nvSpPr>
        <p:spPr>
          <a:xfrm>
            <a:off x="7820555" y="0"/>
            <a:ext cx="3121424" cy="7482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Branch B Modules and Logic (to be determined)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252934-F0D7-B062-2032-36128614BEEA}"/>
              </a:ext>
            </a:extLst>
          </p:cNvPr>
          <p:cNvCxnSpPr/>
          <p:nvPr/>
        </p:nvCxnSpPr>
        <p:spPr>
          <a:xfrm flipV="1">
            <a:off x="9965932" y="748292"/>
            <a:ext cx="0" cy="2483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CC2EB7-85F4-3947-609B-0251AFA0EDAC}"/>
              </a:ext>
            </a:extLst>
          </p:cNvPr>
          <p:cNvCxnSpPr/>
          <p:nvPr/>
        </p:nvCxnSpPr>
        <p:spPr>
          <a:xfrm>
            <a:off x="5548045" y="996592"/>
            <a:ext cx="0" cy="34932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E3A197B-B55C-7817-99F9-BB3ED482670A}"/>
              </a:ext>
            </a:extLst>
          </p:cNvPr>
          <p:cNvSpPr/>
          <p:nvPr/>
        </p:nvSpPr>
        <p:spPr>
          <a:xfrm>
            <a:off x="268343" y="1496584"/>
            <a:ext cx="11655313" cy="2065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Integration &amp; Scoring Module: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Final ‘risk’ metric computation based on miRNA-sandwich signals weighed against relevant intensity scores secured from (confocal) imaging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Machine Learning will be deployed to train model on the correlation between signals and images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definition of the 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223-3p/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29b-3p ratio</a:t>
            </a:r>
            <a:r>
              <a:rPr lang="en-US" sz="1400" dirty="0">
                <a:solidFill>
                  <a:schemeClr val="tx1"/>
                </a:solidFill>
              </a:rPr>
              <a:t> alongside the relevant confidence intervals to prevent over or under estimation of signals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5F88F7-0F64-0F15-C952-E96451DBC7EF}"/>
              </a:ext>
            </a:extLst>
          </p:cNvPr>
          <p:cNvSpPr/>
          <p:nvPr/>
        </p:nvSpPr>
        <p:spPr>
          <a:xfrm>
            <a:off x="268343" y="3888750"/>
            <a:ext cx="11655313" cy="2065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Final Product: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Ux</a:t>
            </a:r>
            <a:r>
              <a:rPr lang="en-US" sz="1400" dirty="0">
                <a:solidFill>
                  <a:schemeClr val="tx1"/>
                </a:solidFill>
              </a:rPr>
              <a:t> work to be conducted in close association with NHS clinicians before developing the software ‘app’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Ux</a:t>
            </a:r>
            <a:r>
              <a:rPr lang="en-US" sz="1400" dirty="0">
                <a:solidFill>
                  <a:schemeClr val="tx1"/>
                </a:solidFill>
              </a:rPr>
              <a:t> will mainly focus on how the 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223-3p/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29b-3p ratio</a:t>
            </a:r>
            <a:r>
              <a:rPr lang="en-US" sz="1400" dirty="0">
                <a:solidFill>
                  <a:schemeClr val="tx1"/>
                </a:solidFill>
              </a:rPr>
              <a:t> will be presented, i.e., green alert if sample ratio +- 50% away, yellow/orange alert if sample ratio +-25% away, red alert if sample ratio +-10% away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 can be downloaded from relevant marketplace by clinicians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.fcs files gathered from pathology labs and fed into the app which will: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Analyse</a:t>
            </a:r>
            <a:r>
              <a:rPr lang="en-US" sz="1400" dirty="0">
                <a:solidFill>
                  <a:schemeClr val="tx1"/>
                </a:solidFill>
              </a:rPr>
              <a:t> all the files, generate visualisations, .JSONs, and master .CSV files (audit-readiness)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2D8451-804E-0842-5963-3AC12D9A2352}"/>
              </a:ext>
            </a:extLst>
          </p:cNvPr>
          <p:cNvCxnSpPr/>
          <p:nvPr/>
        </p:nvCxnSpPr>
        <p:spPr>
          <a:xfrm>
            <a:off x="5532633" y="3561690"/>
            <a:ext cx="0" cy="2808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55649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1687</Words>
  <Application>Microsoft Office PowerPoint</Application>
  <PresentationFormat>Widescreen</PresentationFormat>
  <Paragraphs>165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Consolas</vt:lpstr>
      <vt:lpstr>Grandview Display</vt:lpstr>
      <vt:lpstr>Wingdings</vt:lpstr>
      <vt:lpstr>DashVTI</vt:lpstr>
      <vt:lpstr>miRFlow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Yasar, Samin</dc:creator>
  <cp:lastModifiedBy>Yasar, Samin</cp:lastModifiedBy>
  <cp:revision>19</cp:revision>
  <dcterms:created xsi:type="dcterms:W3CDTF">2026-02-22T00:07:30Z</dcterms:created>
  <dcterms:modified xsi:type="dcterms:W3CDTF">2026-03-28T00:33:37Z</dcterms:modified>
</cp:coreProperties>
</file>