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38:59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0 374 24575,'1'-2'0,"-1"0"0,0 0 0,1 1 0,0-1 0,-1 0 0,1 0 0,0 1 0,0-1 0,0 0 0,0 1 0,0-1 0,0 1 0,0 0 0,1-1 0,-1 1 0,1 0 0,-1-1 0,1 1 0,-1 0 0,1 0 0,0 0 0,1 0 0,46-19 0,-35 15 0,106-42 0,-2-4 0,150-92 0,-178 86 0,-87 55 0,0 0 0,0 0 0,1 0 0,-1 1 0,1-1 0,-1 1 0,1 0 0,0 0 0,0 0 0,-1 0 0,1 1 0,0 0 0,0-1 0,0 2 0,-1-1 0,1 0 0,0 1 0,0-1 0,-1 1 0,1 0 0,0 0 0,-1 1 0,1-1 0,-1 1 0,1 0 0,-1 0 0,0 0 0,4 3 0,11 8 0,-2 0 0,1 2 0,24 27 0,-34-34 0,174 179 0,242 196 0,-367-336-341,-1 3 0,-3 2-1,75 97 1,-118-136-6485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39:01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 24575,'0'1482'0,"-14"-1243"0,1 4 0,15 5171 0,-3-3088 0,0-2307 0,-1 0 0,-7 34 0,4-32 0,1 0 0,0 23 0,3-6 0,1-9 0,-2 1 0,0-1 0,-8 34 0,-60 208 0,66-257 0,-20 63 0,-17 110 0,22-106-1365,16-63-5461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39:09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24575,'2872'0'0,"-2853"-1"0,0-2 0,-1 0 0,1 0 0,0-2 0,18-7 0,-13 4 0,1 1 0,28-4 0,63-12 0,-83 14 0,2 2 0,51-4 0,462 9 0,-268 5 0,1514-3 0,-1612 13 0,-12 0 0,-87-13 0,0 5 0,0 3 0,103 23 0,-10 1 0,-107-22 0,82 24 0,-111-24 0,1-1 0,-1-2 0,66 2 0,128-10 0,-90-1 0,4315 2-1365,-4435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39:10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24575,'33'-1'0,"13"1"0,45 5 0,-75-2 0,-1-1 0,1 2 0,-1 0 0,1 1 0,-1 0 0,22 13 0,252 157 0,-284-171 0,1 0 0,-1 0 0,0 0 0,0 1 0,0 0 0,0 0 0,-1 0 0,0 0 0,0 1 0,0 0 0,-1 0 0,0 0 0,0 0 0,0 0 0,-1 1 0,0-1 0,0 1 0,-1 0 0,0-1 0,1 11 0,-3-7 0,1 0 0,-1 0 0,-1 0 0,0-1 0,0 1 0,-1-1 0,0 1 0,-1-1 0,0 0 0,0 0 0,-1-1 0,0 1 0,-10 11 0,-15 26 0,2 2 0,3 0 0,1 2 0,-32 97 0,33-86 0,12-25-24,9-28-168,0 1 1,-1-1-1,0 1 0,0-1 1,-1 0-1,-9 14 1,2-10-6635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39:50.1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56 24575,'1'-1'0,"-1"0"0,1-1 0,-1 1 0,1 0 0,0 0 0,-1 0 0,1 0 0,0 0 0,0 0 0,0 0 0,0 0 0,0 0 0,0 1 0,0-1 0,0 0 0,0 0 0,0 1 0,0-1 0,0 1 0,1-1 0,-1 1 0,0 0 0,0-1 0,1 1 0,-1 0 0,0 0 0,3 0 0,43-4 0,-40 3 0,536-2 0,-278 6 0,-184-5 0,116-16 0,-121 11 0,0 3 0,77 7 0,-25 0 0,223-6 0,382 6 0,-381 27 0,-265-8 0,-67-16 0,0 0 0,1-2 0,0 0 0,25 1 0,262-7 0,94 3 0,-369 3 0,0 1 0,42 12 0,-2 0 0,28 7 0,-61-13 0,0-2 0,78 6 0,-72-11 0,-1 2 0,46 12 0,-43-8 0,22-1 0,0-3 0,0-3 0,83-6 0,-14 0 0,881 3 0,-933 4 0,106 18 0,78 5 0,1090-26 0,-618-4 0,2739 3-1365,-3456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39:57.2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1 231 24575,'0'-4'0,"0"1"0,0-1 0,0 1 0,1 0 0,-1-1 0,1 1 0,0-1 0,0 1 0,0 0 0,0 0 0,1 0 0,-1 0 0,1-1 0,0 2 0,0-1 0,3-4 0,-1 3 0,1 1 0,-1 0 0,1 0 0,0 0 0,0 0 0,0 1 0,0 0 0,0 0 0,11-2 0,26-4 0,0 2 0,0 2 0,1 2 0,76 5 0,-26-1 0,4396 1 0,-2277-5 0,3493 2 0,-5688-1 0,1-1 0,0-1 0,-1 0 0,0-1 0,23-9 0,31-7 0,26 5 0,-60 10 0,-1-1 0,61-19 0,-72 17 10,-1 1-1,1 2 1,0 0-1,37-1 1,103 5-273,-81 3-887,-60-2-5676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40:09.2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24575,'3'63'0,"3"1"0,20 83 0,-11-65 0,-3-13 0,3 9 0,-3 1 0,2 106 0,-18 6364 0,7-3419 0,-6-2994 0,0-52 0,3 0 0,16 114 0,0-117-52,-7-38-386,-2 0 1,3 71-1,-10-92-6388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40:12.5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 24575,'-1'60'0,"1"42"0,16 143 0,74 221 0,-65-350 0,22 137 0,10 50 0,-11-54 0,-22-111 0,14 23 0,-20-94 0,10 54 0,16 168 0,-33-205 0,-4-35 0,1 69 0,-11 4307 0,5-2320 0,-1-2076 0,11 55 0,-7-54 0,3 53 0,-11 121 0,6 142 0,8-226 0,3 76 0,-15 54-1365,1-228-5461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40:22.1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850 1 9830,'-5'0'134,"0"1"0,-1 0-1,1 1 1,0-1 0,0 1 0,0 0 0,0 0-1,0 1 1,0-1 0,1 1 0,-1 0-1,1 1 1,-5 4 0,-57 58 1034,39-38-569,-56 48 1632,-148 101 1,120-95-738,-83 46 1142,161-107-2108,15-8-282,4 0-200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40:23.5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1782 1 9830,'-1'7'143,"0"0"0,-1 0 1,0 0-1,0 0 0,-1 0 0,0-1 0,0 1 0,-1-1 0,1 0 1,-1 0-1,-1 0 0,1 0 0,-1-1 0,-6 6 0,-11 11 671,-45 34 0,-22 6 1641,-155 80-1,104-65-798,-58 48 906,-38 21 491,187-116-2929,3 2 0,-64 55 0,-26 18-67,114-90-57,3-3 0,0 2 0,-31 29 0,-71 54 0,101-78 0,-42 29 0,12-9 0,35-29 0,2-2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40:24.9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2856 1 9830,'0'3'103,"-1"1"0,0 0-1,1 0 1,-1-1 0,-1 1 0,1-1-1,-1 1 1,1-1 0,-1 0 0,0 1-1,0-1 1,-3 4 0,-35 37 701,24-28-356,-221 234 3475,194-208-2797,-2-2 0,-63 44 1,17-15 53,-327 274 4130,288-245-5306,-35 29-4,129-98 0,-2-1 0,-1-3 0,-1-1 0,-56 25 0,-50 30 0,100-54 0,-2-1 0,-69 23 0,33-14 0,38-15 0,24-10 0,0 1 0,0 1 0,-39 25 0,-72 74 0,64-48 0,-178 125 0,214-162 0,-38 19 0,40-25 0,-51 38 0,68-44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40:26.8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4138 0 9830,'-5'0'136,"0"1"-1,0-1 1,0 1-1,0 1 1,0-1-1,1 1 1,-1-1-1,0 1 1,1 0-1,-1 1 1,1-1 0,0 1-1,-1 0 1,1 0-1,-4 5 1,-7 7 206,1 1 1,-18 26 0,-17 18 603,-14-4 1066,-113 76 0,-82 32 1495,124-82-1872,-22 12-805,40-24 292,-125 96 1,156-99-1123,-239 204 0,87-85 0,137-113 0,-15 13 0,-218 173 0,269-208 0,-2-2 0,-2-3 0,-132 66 0,133-75 0,2 3 0,2 3 0,-68 61 0,-5 1 0,32-37 0,64-43 0,-58 45 0,39-28 0,45-33 0,0 0 0,1 0 0,0 1 0,-16 17 0,10-7 0,-36 29 0,-7 5 0,-33 55 0,-9 10 0,79-87 0,18-17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40:29.2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3207 1 9830,'-3'2'111,"-1"0"0,0 0 0,1 0 0,-1 0 0,1 1 0,0 0 0,0 0 0,0 0 0,0 0-1,0 0 1,1 0 0,-3 4 0,-5 6 152,-96 117 1643,9-10 46,-232 228 3670,196-186-4181,-2 1 1016,108-134-2132,-2-1 0,0-2 0,-46 32 1,-70 53-326,82-55 0,44-38 0,-1 0 0,-40 27 0,-175 112 0,171-111 0,-59 56 0,88-72 0,-111 90 0,-36 30 0,158-131 0,-47 30 0,48-35 0,1 1 0,-40 35 0,34-19 0,0 1 0,3 2 0,-25 41 0,7 8 0,37-67 0,-1-1 0,-1 0 0,0-1 0,-1 1 0,0-1 0,-1-1 0,-22 23 0,-282 229 0,303-254 0,1-1 0,1 2 0,-1 0 0,-10 19 0,13-20 0,0-1 0,0 1 0,-1-1 0,0-1 0,-1 1 0,-16 12 0,-10 6 0,-58 61 0,44-39 0,35-37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40:30.9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1525 2 9830,'-6'-1'114,"0"1"0,-1 0-1,1 0 1,-1 0 0,1 1-1,0 0 1,0 0 0,-1 1 0,1-1-1,0 1 1,0 1 0,0-1 0,0 1-1,1 0 1,-1 0 0,1 1-1,0 0 1,0 0 0,0 0 0,0 0-1,1 1 1,0 0 0,0 0-1,0 0 1,-5 10 0,-37 47 1064,-3-2 0,-2-1-1,-3-4 1,-2-1 0,-109 79 0,109-86 557,-82 89 1,14-11 24,105-106-1498,2 0 1,-29 41 0,-4 7 78,-12 12-341,-20 22 0,54-71 0,-30 29 0,-201 142 0,243-188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0:40:34.0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4026 1 9830,'-2'5'131,"0"0"0,0 0 0,-1 0 0,1 0 1,-1 0-1,-1 0 0,1-1 0,-1 1 0,1-1 0,-1 0 0,-5 4 0,-8 10 255,-60 94 1384,45-63-604,-41 47-1,3-14 967,-100 153-1,120-159-530,-4-3 0,-81 86 0,105-129-1287,-2-2 1,-1 0-1,-73 44 1,59-42-315,-1-3 0,-79 32 0,52-33 0,46-17 0,0 2 0,-33 16 0,-41 37 0,74-43 0,-1-3 0,0 0 0,-52 21 0,51-25 0,2 1 0,0 2 0,1 1 0,1 1 0,-43 38 0,-27 20 0,42-35 0,-26 17 0,12-8 0,54-38 0,0-1 0,-1-1 0,-21 12 0,-30 16 0,2 2 0,-104 87 0,93-61 0,49-42 0,-2 0 0,0-2 0,-36 21 0,11-9 0,1 3 0,-72 65 0,27-20 0,50-46 0,21-18 0,-40 40 0,60-53 0,1-1 0,-1 1 0,-1-1 0,-13 7 0,13-8 0,1 0 0,0 1 0,0-1 0,0 1 0,-11 12 0,-68 66 0,42-31 0,19-24 0,2 1 0,-25 41 0,-96 158 0,120-188 0,18-27 0,-1-1 0,0 0 0,-18 20 0,15-19 0,0 1 0,0 0 0,2 0 0,-10 22 0,-25 37 0,33-58 0,1 0 0,1 1 0,-9 22 0,-20 37 0,20-46 0,-26 60 0,16-30 0,20-45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1:10:17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0 24575,'-3'0'0,"1"1"0,-1-1 0,1 1 0,0 0 0,-1-1 0,1 1 0,0 0 0,0 0 0,0 1 0,0-1 0,0 0 0,0 1 0,0-1 0,0 1 0,0 0 0,1-1 0,-1 1 0,0 0 0,1 0 0,0 0 0,-1 0 0,1 0 0,0 0 0,0 1 0,0-1 0,1 0 0,-1 1 0,0-1 0,1 0 0,0 1 0,-1-1 0,1 4 0,-2 13 0,1 0 0,0 1 0,3 20 0,-1-18 0,-2 1 0,-1 1 0,-8 34 0,6-33 0,-4 50 0,9 179-1365,-1-233-5461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1:10:19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24575,'0'738'-1365,"0"-716"-5461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1:10:21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21389,'0'610'0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01:10:34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24575,'5'4'0,"0"6"0,1 2-8191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0T15:08:11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4758 42 24575,'-2'29'0,"-1"0"0,-1-1 0,-2 1 0,-1-1 0,-14 38 0,-9 34 0,24-59 0,1 0 0,1 0 0,3 1 0,5 51 0,-2-1 0,-2-45 0,-1 0 0,-14 76 0,11-95 0,-1 51 0,6-60 0,-2 0 0,0 0 0,-2-1 0,0 1 0,0-1 0,-11 28 0,6-23 0,-10 40 0,14-42 0,-2 0 0,-14 32 0,-5 8 0,14-35 0,-18 36 0,16-40 0,2 1 0,1-1 0,-8 27 0,4-15 0,-2 1 0,-1-2 0,-2 0 0,-35 47 0,12-18 0,-56 69 0,68-93 0,-52 50 0,-4 4 0,34-37 0,35-38 0,1 1 0,-25 34 0,30-38 0,0 0 0,0-1 0,-26 22 0,21-21 0,-26 31 0,17-16 0,-42 38 0,6-6 0,39-40 0,-1-1 0,-1-1 0,-35 21 0,-33 27 0,51-33 0,-6 5 0,-54 57 0,78-73 0,-1-1 0,-1-1 0,-31 19 0,-20 17 0,-41 21 0,-172 140 0,79-102 0,59-36 0,94-44 0,34-20 0,0-2 0,-30 14 0,-149 71 0,142-72 0,2 2 0,-65 44 0,105-61 0,-96 59 0,-77 41 0,165-96 0,-25 22 0,28-20 0,-40 24 0,31-23 0,-34 27 0,17-10 0,-215 129 0,152-98 0,73-40 0,1 3 0,2 1 0,-62 68 0,47-47 0,-61 69 0,84-83 0,1 2 0,3 1 0,-25 54 0,-19 58 0,61-137 0,2 0 0,0 1 0,1 0 0,1-1 0,0 1 0,2 0 0,0 1 0,0-1 0,2 0 0,0 0 0,1 0 0,1 0 0,0 0 0,1-1 0,1 1 0,13 29 0,-7-23 0,-9-16 0,1 0 0,0 0 0,1 0 0,-1-1 0,1 0 0,0 1 0,1-1 0,0-1 0,0 1 0,0-1 0,1 0 0,7 6 0,243 154 0,-230-153 0,-1-1 0,1-1 0,1-2 0,0 0 0,47 6 0,41 11 0,-74-14 0,0-3 0,0-1 0,64 2 0,131-10 0,-93-2 0,-93 2 0,-1-3 0,0-2 0,84-20 0,-59 8 0,169-49 0,-209 53 0,55-31 0,-75 37 0,150-91 0,-131 79 0,-1-1 0,36-33 0,-46 33 0,-2-1 0,33-46 0,-9 10 0,30-46 0,-47 65 0,28-50 0,-37 58 0,1 0 0,2 1 0,47-52 0,-50 62 0,-2-1 0,0 0 0,-1-1 0,21-42 0,22-32 0,63-97 0,-81 121 0,220-374 0,-211 360 0,-31 52 0,34-49 0,154-194 0,11-21 0,-135 177 0,-57 80 0,2 1 0,61-68 0,-52 73 0,-13 14 0,-2-1 0,33-43 0,-34 40 0,1 1 0,0 1 0,40-32 0,24-25 0,77-86 0,-132 138 0,42-29 0,-21 19 0,-12-2 0,-31 31 0,-1 0 0,2 1 0,13-12 0,11-1 0,-24 15 0,0 1 0,0-2 0,0 1 0,-1-1 0,15-16 0,4-7 0,-19 22 0,0-1 0,0 1 0,-1-1 0,6-12 0,28-41 0,-32 51 0,-1 0 0,0-1 0,0 0 0,-2-1 0,1 0 0,-2 0 0,8-25 0,2-60 0,-5-1 0,-3-151 0,-7-360 0,-2 581 0,0-1 0,-8-29 0,4 27 0,-2-45 0,8 23 0,1 34 0,-1 0 0,-1 1 0,0-1 0,-1 1 0,-2-1 0,0 1 0,-10-31 0,6 31 0,2-1 0,-7-35 0,11 42 0,0 0 0,-2-1 0,1 2 0,-2-1 0,1 0 0,-2 1 0,0 0 0,-13-21 0,-150-206-1365,157 225-5461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9D159-61B8-D08A-9E71-CDA0B80A4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863D1-7454-F7A9-054C-7AF3CE454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FB093-68D6-F720-4335-501D96EC4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CEEE3-9343-4785-8D81-C7A8929AC3E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FAA6A-3678-12D4-A51C-730666A49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98410-6E0F-9F56-5EA4-3094C510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5E24-BC62-4030-80C5-F13918913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7B0EB-7AD6-633F-B918-C71ADED1D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85DA7-AAD1-AA14-430D-9F8A81218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093CB-C1B5-5728-2E8E-461B0C5E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CEEE3-9343-4785-8D81-C7A8929AC3E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EE546-21FD-17EA-58F9-079162AC7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56EC7-66A2-4C62-50D3-FEFB9BA4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5E24-BC62-4030-80C5-F13918913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3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BC98-D72B-5848-3EE1-BEF442A6F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DB612-1B62-3187-B238-F5C70A8A6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C838E-BF0C-0A69-AA0E-6EAA611F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CEEE3-9343-4785-8D81-C7A8929AC3E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A9ADE-435D-490C-7ED7-854113DA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2942A-8F95-DA46-77DD-302D63BE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5E24-BC62-4030-80C5-F13918913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7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22C60-4914-CE90-6172-686C7D89D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89682-F41D-7848-BE06-80FC6E6E4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1019B-FC1E-EBA3-7130-D3561558B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F178-3A4D-FFC2-20E5-4ABC2C1A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CEEE3-9343-4785-8D81-C7A8929AC3E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E62AD-D5C6-CB1D-1D17-A2CF8ADD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9F8C2-A5CB-2998-D89D-F409EFE0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5E24-BC62-4030-80C5-F13918913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DBFB3-9957-7A48-15B0-EDFED8EC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18214-5E69-92F2-76A5-285BC32F2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29327-B462-8C41-584A-C83592764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7A2C6E-2458-8DEF-4FF7-7E97F68C1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77D63D-9B1F-4D9C-F0CB-8FEFECC33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F1E5E0-C4D8-68A8-F8B1-253F855A8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CEEE3-9343-4785-8D81-C7A8929AC3E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51CBD4-9712-F99A-57CB-540FB191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2F63A-7D63-5DD8-D617-78F5FE1B0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5E24-BC62-4030-80C5-F13918913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19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6E62-51E7-2302-5078-13A06C6E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64D43A-C2C5-7A35-6E1F-2D7B3A30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CEEE3-9343-4785-8D81-C7A8929AC3E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715A40-0803-3E87-AD45-B89901126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A6DFA-A030-24B6-A151-08A0A34D9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5E24-BC62-4030-80C5-F13918913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1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7ABD6-176B-CE4B-E610-1841176F1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CEEE3-9343-4785-8D81-C7A8929AC3E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54156-1AD5-041B-B128-74BCC03B8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A023D-D984-F135-6393-9370E2C7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5E24-BC62-4030-80C5-F13918913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05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FAD81-E156-3626-596D-958D7B31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D06BB-8536-5ACB-A0B8-E0C5982F3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83C83-786E-A410-70B5-24EFC834A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37021-6A38-9570-0E52-995BB5065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CEEE3-9343-4785-8D81-C7A8929AC3E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5D06E-2185-3E98-27D7-854A1DEC7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62EB6-28CC-6361-C957-9F4879C64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5E24-BC62-4030-80C5-F13918913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0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C0971-B3AD-B46F-698F-F7A55009D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57C3F-420D-138E-F409-EB0CC5CBD4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EF556-A964-648A-0DC9-F26C6DC19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B28FA-DC2B-8991-CEF4-FFC3B273A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CEEE3-9343-4785-8D81-C7A8929AC3E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0049C-F3F1-B208-44A8-ED530A42D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5CA59-B60E-68C8-4B12-8E14BCB9E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5E24-BC62-4030-80C5-F13918913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36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EE32-9FF8-8960-6BC9-5B17A034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AEB90-71D5-6752-3F7E-5466EBE49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30726-6C71-F6AE-367C-6EC769F47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CEEE3-9343-4785-8D81-C7A8929AC3E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114D0-4F6F-DF50-B22E-933E865B8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379A3-4FFE-8FF4-2B8D-F78284A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5E24-BC62-4030-80C5-F13918913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62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0C16E4-55B2-8D6D-D873-3997AE4A6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A15E11-8B0F-22E7-4FF3-8364D8DD4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9A84F-D840-99CB-C7B8-4A49458D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CEEE3-9343-4785-8D81-C7A8929AC3E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4F24B-9461-C373-1169-1AF949EB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D7EFE-95FB-39C7-C26A-0F9F3178F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55E24-BC62-4030-80C5-F13918913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42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70E718-E08F-C46E-FDC8-9A024E4A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53103-F6E1-713C-E57B-73DF18E59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B3FAC-D36E-CA42-C973-C515D36AA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ECEEE3-9343-4785-8D81-C7A8929AC3E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371CA-3DE3-A352-5095-2A2D8F75E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1772A-2FF0-9CC1-7C88-B60D8ED9A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55E24-BC62-4030-80C5-F13918913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7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20.png"/><Relationship Id="rId21" Type="http://schemas.openxmlformats.org/officeDocument/2006/relationships/image" Target="../media/image11.png"/><Relationship Id="rId34" Type="http://schemas.openxmlformats.org/officeDocument/2006/relationships/customXml" Target="../ink/ink17.xml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9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9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31" Type="http://schemas.openxmlformats.org/officeDocument/2006/relationships/image" Target="../media/image16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4.png"/><Relationship Id="rId30" Type="http://schemas.openxmlformats.org/officeDocument/2006/relationships/customXml" Target="../ink/ink15.xml"/><Relationship Id="rId35" Type="http://schemas.openxmlformats.org/officeDocument/2006/relationships/image" Target="../media/image18.png"/><Relationship Id="rId8" Type="http://schemas.openxmlformats.org/officeDocument/2006/relationships/customXml" Target="../ink/ink4.xml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customXml" Target="../ink/ink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91C294-F916-4A9C-60E8-DCC5B0CAC86E}"/>
              </a:ext>
            </a:extLst>
          </p:cNvPr>
          <p:cNvSpPr txBox="1"/>
          <p:nvPr/>
        </p:nvSpPr>
        <p:spPr>
          <a:xfrm>
            <a:off x="490728" y="671775"/>
            <a:ext cx="100492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main questions raised during our November meeting: </a:t>
            </a:r>
          </a:p>
          <a:p>
            <a:endParaRPr lang="en-US" dirty="0"/>
          </a:p>
          <a:p>
            <a:pPr marL="342900" indent="-342900">
              <a:buAutoNum type="arabicParenR"/>
            </a:pPr>
            <a:r>
              <a:rPr lang="en-US" dirty="0">
                <a:solidFill>
                  <a:srgbClr val="00B050"/>
                </a:solidFill>
              </a:rPr>
              <a:t>Can the code distinguish between the different MMB sizes? </a:t>
            </a:r>
          </a:p>
          <a:p>
            <a:pPr marL="342900" indent="-342900">
              <a:buAutoNum type="arabicParenR"/>
            </a:pPr>
            <a:r>
              <a:rPr lang="en-US" dirty="0">
                <a:solidFill>
                  <a:srgbClr val="00B050"/>
                </a:solidFill>
              </a:rPr>
              <a:t>Some events start at a lower MMB size but then smear into larger sizes, can the code correctly count it as part of the lower size band? </a:t>
            </a:r>
          </a:p>
          <a:p>
            <a:pPr marL="342900" indent="-342900">
              <a:buAutoNum type="arabicParenR"/>
            </a:pPr>
            <a:r>
              <a:rPr lang="en-US" dirty="0"/>
              <a:t>Do we need to run the MMB and DG controls in plasma for appropriate global gating or will suspension in water suffice? – yet to be decided (</a:t>
            </a:r>
            <a:r>
              <a:rPr lang="en-US" b="1" dirty="0"/>
              <a:t>Flow Jo images for comparison?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6EAB1-E880-BCEF-1EE2-A9306598C620}"/>
              </a:ext>
            </a:extLst>
          </p:cNvPr>
          <p:cNvSpPr txBox="1"/>
          <p:nvPr/>
        </p:nvSpPr>
        <p:spPr>
          <a:xfrm>
            <a:off x="399288" y="2831021"/>
            <a:ext cx="10792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from previous ‘Advanced FCS Visualiser’ (using controls): 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.JSON file with global MMB size window (FSC-H) + global fluorescence DG window (B525-H)</a:t>
            </a:r>
          </a:p>
          <a:p>
            <a:pPr marL="285750" indent="-285750">
              <a:buFontTx/>
              <a:buChar char="-"/>
            </a:pPr>
            <a:r>
              <a:rPr lang="en-US" dirty="0"/>
              <a:t>In Jan 2026, updated logic </a:t>
            </a:r>
            <a:r>
              <a:rPr lang="en-US" dirty="0">
                <a:sym typeface="Wingdings" panose="05000000000000000000" pitchFamily="2" charset="2"/>
              </a:rPr>
              <a:t> use window for DG too, not a cut-off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DF0A8C-D9D6-D58C-6091-B67B3AE1A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781" y="4139078"/>
            <a:ext cx="3071126" cy="24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623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9A91F2-E9EF-F3DC-4238-470F7236E655}"/>
              </a:ext>
            </a:extLst>
          </p:cNvPr>
          <p:cNvSpPr txBox="1"/>
          <p:nvPr/>
        </p:nvSpPr>
        <p:spPr>
          <a:xfrm>
            <a:off x="512064" y="475488"/>
            <a:ext cx="111465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from the MMB Boundaries extractor module: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FSC-H dependent differences to create MMB 3, 6, and 8 boundaries, again saved into a .JSON file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Steps (show graphs on logbook): </a:t>
            </a:r>
          </a:p>
          <a:p>
            <a:pPr marL="285750" indent="-285750">
              <a:buFontTx/>
              <a:buChar char="-"/>
            </a:pPr>
            <a:r>
              <a:rPr lang="en-US" dirty="0"/>
              <a:t>Applies logicle transformation to only MMB files </a:t>
            </a:r>
          </a:p>
          <a:p>
            <a:pPr marL="285750" indent="-285750">
              <a:buFontTx/>
              <a:buChar char="-"/>
            </a:pPr>
            <a:r>
              <a:rPr lang="en-US" dirty="0"/>
              <a:t>To each file, applies Gaussian KDE to obtain smooth distributions of density vs FSC-H</a:t>
            </a:r>
          </a:p>
          <a:p>
            <a:pPr marL="285750" indent="-285750">
              <a:buFontTx/>
              <a:buChar char="-"/>
            </a:pPr>
            <a:r>
              <a:rPr lang="en-US" dirty="0"/>
              <a:t>For each file, the dominant peak (highest density) is selected and then the FSC-H value at 5% of the maximum density to the left is calculated and stored as the ‘</a:t>
            </a:r>
            <a:r>
              <a:rPr lang="en-US" dirty="0" err="1"/>
              <a:t>start_FSC</a:t>
            </a:r>
            <a:r>
              <a:rPr lang="en-US" dirty="0"/>
              <a:t>’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Then, for each class size (3 vs 6 vs 8), the median of the </a:t>
            </a:r>
            <a:r>
              <a:rPr lang="en-US" dirty="0" err="1"/>
              <a:t>start_FSC</a:t>
            </a:r>
            <a:r>
              <a:rPr lang="en-US" dirty="0"/>
              <a:t> is calculated separately </a:t>
            </a:r>
          </a:p>
          <a:p>
            <a:pPr marL="285750" indent="-285750">
              <a:buFontTx/>
              <a:buChar char="-"/>
            </a:pPr>
            <a:r>
              <a:rPr lang="en-US" dirty="0"/>
              <a:t>This forms the boundaries as follows and integrates with the global MMB window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MMB 3 = [lower bound of global window, median </a:t>
            </a:r>
            <a:r>
              <a:rPr lang="en-US" dirty="0" err="1"/>
              <a:t>start_FSC</a:t>
            </a:r>
            <a:r>
              <a:rPr lang="en-US" dirty="0"/>
              <a:t> of MMB 6]</a:t>
            </a:r>
          </a:p>
          <a:p>
            <a:pPr marL="285750" indent="-285750">
              <a:buFontTx/>
              <a:buChar char="-"/>
            </a:pPr>
            <a:r>
              <a:rPr lang="en-US" dirty="0"/>
              <a:t>MMB 6 = [median </a:t>
            </a:r>
            <a:r>
              <a:rPr lang="en-US" dirty="0" err="1"/>
              <a:t>start_FSC</a:t>
            </a:r>
            <a:r>
              <a:rPr lang="en-US" dirty="0"/>
              <a:t> of MMB 6, median </a:t>
            </a:r>
            <a:r>
              <a:rPr lang="en-US" dirty="0" err="1"/>
              <a:t>start_FSC</a:t>
            </a:r>
            <a:r>
              <a:rPr lang="en-US" dirty="0"/>
              <a:t> of MMB 8]</a:t>
            </a:r>
          </a:p>
          <a:p>
            <a:pPr marL="285750" indent="-285750">
              <a:buFontTx/>
              <a:buChar char="-"/>
            </a:pPr>
            <a:r>
              <a:rPr lang="en-US" dirty="0"/>
              <a:t>MMB 8 = [median </a:t>
            </a:r>
            <a:r>
              <a:rPr lang="en-US" dirty="0" err="1"/>
              <a:t>start_FSC</a:t>
            </a:r>
            <a:r>
              <a:rPr lang="en-US" dirty="0"/>
              <a:t> of MMB 8, upper bound of global window]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Using median FSC solves the ‘smearing issue’ since it is less prone to be affected by outliers compared to mean FSC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.Json file for MMB threshold extractor is extremely detailed (show)</a:t>
            </a:r>
          </a:p>
        </p:txBody>
      </p:sp>
    </p:spTree>
    <p:extLst>
      <p:ext uri="{BB962C8B-B14F-4D97-AF65-F5344CB8AC3E}">
        <p14:creationId xmlns:p14="http://schemas.microsoft.com/office/powerpoint/2010/main" val="1871942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F5F517F-0FC5-E7A3-2C05-531976F3EF34}"/>
              </a:ext>
            </a:extLst>
          </p:cNvPr>
          <p:cNvGrpSpPr/>
          <p:nvPr/>
        </p:nvGrpSpPr>
        <p:grpSpPr>
          <a:xfrm>
            <a:off x="960264" y="569376"/>
            <a:ext cx="646560" cy="3865320"/>
            <a:chOff x="960264" y="569376"/>
            <a:chExt cx="646560" cy="38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69C3C6B-712E-77B3-DA67-9EEAF161C991}"/>
                    </a:ext>
                  </a:extLst>
                </p14:cNvPr>
                <p14:cNvContentPartPr/>
                <p14:nvPr/>
              </p14:nvContentPartPr>
              <p14:xfrm>
                <a:off x="960264" y="569376"/>
                <a:ext cx="646560" cy="3574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69C3C6B-712E-77B3-DA67-9EEAF161C99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51264" y="560376"/>
                  <a:ext cx="6642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8A341D2-4A94-EAB2-28C1-8D1D189A3776}"/>
                    </a:ext>
                  </a:extLst>
                </p14:cNvPr>
                <p14:cNvContentPartPr/>
                <p14:nvPr/>
              </p14:nvContentPartPr>
              <p14:xfrm>
                <a:off x="1134504" y="575856"/>
                <a:ext cx="81720" cy="3858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8A341D2-4A94-EAB2-28C1-8D1D189A37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25504" y="567216"/>
                  <a:ext cx="99360" cy="38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0176F79-3E73-1CCB-7BAE-1029D7584A6D}"/>
              </a:ext>
            </a:extLst>
          </p:cNvPr>
          <p:cNvGrpSpPr/>
          <p:nvPr/>
        </p:nvGrpSpPr>
        <p:grpSpPr>
          <a:xfrm>
            <a:off x="950544" y="3940776"/>
            <a:ext cx="4491000" cy="363960"/>
            <a:chOff x="950544" y="3940776"/>
            <a:chExt cx="449100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2167913-91E1-A528-6E3F-1A9D8E60988F}"/>
                    </a:ext>
                  </a:extLst>
                </p14:cNvPr>
                <p14:cNvContentPartPr/>
                <p14:nvPr/>
              </p14:nvContentPartPr>
              <p14:xfrm>
                <a:off x="950544" y="4031496"/>
                <a:ext cx="4416840" cy="66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2167913-91E1-A528-6E3F-1A9D8E60988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1904" y="4022496"/>
                  <a:ext cx="44344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BE8BCFC-5FF8-58C4-40E8-82676F2E1A64}"/>
                    </a:ext>
                  </a:extLst>
                </p14:cNvPr>
                <p14:cNvContentPartPr/>
                <p14:nvPr/>
              </p14:nvContentPartPr>
              <p14:xfrm>
                <a:off x="5202864" y="3940776"/>
                <a:ext cx="238680" cy="363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BE8BCFC-5FF8-58C4-40E8-82676F2E1A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93864" y="3931776"/>
                  <a:ext cx="256320" cy="38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D5BBC7E-522E-320B-04B1-1521A15B94D0}"/>
                  </a:ext>
                </a:extLst>
              </p14:cNvPr>
              <p14:cNvContentPartPr/>
              <p14:nvPr/>
            </p14:nvContentPartPr>
            <p14:xfrm>
              <a:off x="813744" y="1506816"/>
              <a:ext cx="4461480" cy="103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D5BBC7E-522E-320B-04B1-1521A15B94D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4744" y="1497816"/>
                <a:ext cx="44791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1973AB6-6256-0877-CAB9-AF4CAE9508C2}"/>
                  </a:ext>
                </a:extLst>
              </p14:cNvPr>
              <p14:cNvContentPartPr/>
              <p14:nvPr/>
            </p14:nvContentPartPr>
            <p14:xfrm>
              <a:off x="730944" y="2998656"/>
              <a:ext cx="4955760" cy="83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1973AB6-6256-0877-CAB9-AF4CAE9508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2304" y="2989656"/>
                <a:ext cx="49734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4C9CA37-4C16-FA77-3BCA-F35A061CAB92}"/>
                  </a:ext>
                </a:extLst>
              </p14:cNvPr>
              <p14:cNvContentPartPr/>
              <p14:nvPr/>
            </p14:nvContentPartPr>
            <p14:xfrm>
              <a:off x="2157624" y="448056"/>
              <a:ext cx="55800" cy="4051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4C9CA37-4C16-FA77-3BCA-F35A061CAB9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48984" y="439416"/>
                <a:ext cx="73440" cy="40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3403E94-D275-2F63-6C19-A249DAC64758}"/>
                  </a:ext>
                </a:extLst>
              </p14:cNvPr>
              <p14:cNvContentPartPr/>
              <p14:nvPr/>
            </p14:nvContentPartPr>
            <p14:xfrm>
              <a:off x="3839904" y="411336"/>
              <a:ext cx="183960" cy="38581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3403E94-D275-2F63-6C19-A249DAC6475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831264" y="402696"/>
                <a:ext cx="201600" cy="387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B09C092A-1119-8173-88A1-44642095BFF1}"/>
              </a:ext>
            </a:extLst>
          </p:cNvPr>
          <p:cNvGrpSpPr/>
          <p:nvPr/>
        </p:nvGrpSpPr>
        <p:grpSpPr>
          <a:xfrm>
            <a:off x="2116944" y="1554336"/>
            <a:ext cx="1870200" cy="1483920"/>
            <a:chOff x="2116944" y="1554336"/>
            <a:chExt cx="1870200" cy="148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13607FA-2157-BCE0-B5CC-1B42B3D431D0}"/>
                    </a:ext>
                  </a:extLst>
                </p14:cNvPr>
                <p14:cNvContentPartPr/>
                <p14:nvPr/>
              </p14:nvContentPartPr>
              <p14:xfrm>
                <a:off x="2116944" y="1590696"/>
                <a:ext cx="306360" cy="230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13607FA-2157-BCE0-B5CC-1B42B3D431D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98944" y="1573056"/>
                  <a:ext cx="3420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2BB010B-3B3F-395E-954D-FD1264A418CB}"/>
                    </a:ext>
                  </a:extLst>
                </p14:cNvPr>
                <p14:cNvContentPartPr/>
                <p14:nvPr/>
              </p14:nvContentPartPr>
              <p14:xfrm>
                <a:off x="2247984" y="1554336"/>
                <a:ext cx="641880" cy="464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2BB010B-3B3F-395E-954D-FD1264A418C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30344" y="1536696"/>
                  <a:ext cx="67752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A183838-DABE-278C-8259-B537BC3BB346}"/>
                    </a:ext>
                  </a:extLst>
                </p14:cNvPr>
                <p14:cNvContentPartPr/>
                <p14:nvPr/>
              </p14:nvContentPartPr>
              <p14:xfrm>
                <a:off x="2208744" y="1627416"/>
                <a:ext cx="1028520" cy="761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A183838-DABE-278C-8259-B537BC3BB34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90744" y="1609776"/>
                  <a:ext cx="106416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2974314-D389-E0FA-EEF8-4A004DA9F8F6}"/>
                    </a:ext>
                  </a:extLst>
                </p14:cNvPr>
                <p14:cNvContentPartPr/>
                <p14:nvPr/>
              </p14:nvContentPartPr>
              <p14:xfrm>
                <a:off x="2259144" y="1645776"/>
                <a:ext cx="1489680" cy="1126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2974314-D389-E0FA-EEF8-4A004DA9F8F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1504" y="1627776"/>
                  <a:ext cx="1525320" cy="11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DC11D7B-4C50-1AB5-DD21-E9C89F4E79F9}"/>
                    </a:ext>
                  </a:extLst>
                </p14:cNvPr>
                <p14:cNvContentPartPr/>
                <p14:nvPr/>
              </p14:nvContentPartPr>
              <p14:xfrm>
                <a:off x="2832264" y="1910736"/>
                <a:ext cx="1154880" cy="1120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DC11D7B-4C50-1AB5-DD21-E9C89F4E79F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14624" y="1893096"/>
                  <a:ext cx="1190520" cy="11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8D6ADAA-1150-E517-6B31-BF979941C3A4}"/>
                    </a:ext>
                  </a:extLst>
                </p14:cNvPr>
                <p14:cNvContentPartPr/>
                <p14:nvPr/>
              </p14:nvContentPartPr>
              <p14:xfrm>
                <a:off x="3437784" y="2513736"/>
                <a:ext cx="549360" cy="524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8D6ADAA-1150-E517-6B31-BF979941C3A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20144" y="2496096"/>
                  <a:ext cx="58500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F8DB098-1C9E-CD4D-5CF2-73A2CF02D6D5}"/>
                    </a:ext>
                  </a:extLst>
                </p14:cNvPr>
                <p14:cNvContentPartPr/>
                <p14:nvPr/>
              </p14:nvContentPartPr>
              <p14:xfrm>
                <a:off x="2528424" y="1627416"/>
                <a:ext cx="1449720" cy="1385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F8DB098-1C9E-CD4D-5CF2-73A2CF02D6D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10784" y="1609776"/>
                  <a:ext cx="1485360" cy="142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E9DF673-7149-9BE0-FC6A-CC3C21EEEF7C}"/>
              </a:ext>
            </a:extLst>
          </p:cNvPr>
          <p:cNvSpPr txBox="1"/>
          <p:nvPr/>
        </p:nvSpPr>
        <p:spPr>
          <a:xfrm>
            <a:off x="4754880" y="4434696"/>
            <a:ext cx="100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B525-H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38E459-2CB5-684D-6612-934CCE98B4CA}"/>
              </a:ext>
            </a:extLst>
          </p:cNvPr>
          <p:cNvSpPr txBox="1"/>
          <p:nvPr/>
        </p:nvSpPr>
        <p:spPr>
          <a:xfrm>
            <a:off x="493632" y="206524"/>
            <a:ext cx="100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FSC-H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2DE9EE-15E0-E0E1-52ED-B319080025DA}"/>
              </a:ext>
            </a:extLst>
          </p:cNvPr>
          <p:cNvSpPr txBox="1"/>
          <p:nvPr/>
        </p:nvSpPr>
        <p:spPr>
          <a:xfrm>
            <a:off x="4147092" y="2297318"/>
            <a:ext cx="71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863EE2-E239-8753-F1B8-7A81D4B3A09B}"/>
              </a:ext>
            </a:extLst>
          </p:cNvPr>
          <p:cNvSpPr txBox="1"/>
          <p:nvPr/>
        </p:nvSpPr>
        <p:spPr>
          <a:xfrm>
            <a:off x="5990544" y="726434"/>
            <a:ext cx="58052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‘Beta’ version of the GMM Clustering module, overall logic: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Restricting analysis only to events within the overlap of the two windows – Region of Interest (ROI)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Within the ROI, use the GMM to probabilistically separate the events using </a:t>
            </a:r>
            <a:r>
              <a:rPr lang="en-US" b="1" dirty="0"/>
              <a:t>fluorescence only </a:t>
            </a:r>
            <a:r>
              <a:rPr lang="en-US" dirty="0"/>
              <a:t>since MMB sizes are well-defined (also simplifies workflow)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For simplicity, we introduced only 3 fluorescence states (tri-state GMM) using patient data within the ROI: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342900" indent="-342900">
              <a:buAutoNum type="arabicParenBoth"/>
            </a:pPr>
            <a:r>
              <a:rPr lang="en-US" dirty="0"/>
              <a:t>Low fluorescence (no DG) = 25</a:t>
            </a:r>
            <a:r>
              <a:rPr lang="en-US" baseline="30000" dirty="0"/>
              <a:t>th</a:t>
            </a:r>
            <a:r>
              <a:rPr lang="en-US" dirty="0"/>
              <a:t> percentile, </a:t>
            </a:r>
          </a:p>
          <a:p>
            <a:pPr marL="342900" indent="-342900">
              <a:buAutoNum type="arabicParenBoth"/>
            </a:pPr>
            <a:r>
              <a:rPr lang="en-US" dirty="0"/>
              <a:t>Medium fluorescence (sandwich) = 50</a:t>
            </a:r>
            <a:r>
              <a:rPr lang="en-US" baseline="30000" dirty="0"/>
              <a:t>th</a:t>
            </a:r>
            <a:r>
              <a:rPr lang="en-US" dirty="0"/>
              <a:t> percentile,</a:t>
            </a:r>
          </a:p>
          <a:p>
            <a:pPr marL="342900" indent="-342900">
              <a:buAutoNum type="arabicParenBoth"/>
            </a:pPr>
            <a:r>
              <a:rPr lang="en-US" dirty="0"/>
              <a:t>High fluorescence (multi-binding aggregates) = 75</a:t>
            </a:r>
            <a:r>
              <a:rPr lang="en-US" baseline="30000" dirty="0"/>
              <a:t>th</a:t>
            </a:r>
            <a:r>
              <a:rPr lang="en-US" dirty="0"/>
              <a:t> percentile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7D9048-B9CC-D450-D935-506DA365D1CF}"/>
              </a:ext>
            </a:extLst>
          </p:cNvPr>
          <p:cNvSpPr txBox="1"/>
          <p:nvPr/>
        </p:nvSpPr>
        <p:spPr>
          <a:xfrm>
            <a:off x="320868" y="4932274"/>
            <a:ext cx="55678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GMM’s posterior probability – What is it?</a:t>
            </a:r>
          </a:p>
          <a:p>
            <a:pPr marL="285750" indent="-285750">
              <a:buFontTx/>
              <a:buChar char="-"/>
            </a:pPr>
            <a:r>
              <a:rPr lang="en-US" dirty="0"/>
              <a:t>3 possible fluorescence states,</a:t>
            </a:r>
          </a:p>
          <a:p>
            <a:pPr marL="285750" indent="-285750">
              <a:buFontTx/>
              <a:buChar char="-"/>
            </a:pPr>
            <a:r>
              <a:rPr lang="en-US" dirty="0"/>
              <a:t>One event could be in between two states, so we use the expected value instead of forcing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So instead of 5 sandwich events, we could have 5.75 sandwich events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0221248-60F9-BD4F-6F79-061624A177B6}"/>
              </a:ext>
            </a:extLst>
          </p:cNvPr>
          <p:cNvGrpSpPr/>
          <p:nvPr/>
        </p:nvGrpSpPr>
        <p:grpSpPr>
          <a:xfrm>
            <a:off x="2441304" y="3922776"/>
            <a:ext cx="558360" cy="282600"/>
            <a:chOff x="2441304" y="3922776"/>
            <a:chExt cx="55836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C4B2B8A-0D32-6700-78A1-7FC8392ED828}"/>
                    </a:ext>
                  </a:extLst>
                </p14:cNvPr>
                <p14:cNvContentPartPr/>
                <p14:nvPr/>
              </p14:nvContentPartPr>
              <p14:xfrm>
                <a:off x="2441304" y="3922776"/>
                <a:ext cx="28080" cy="236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C4B2B8A-0D32-6700-78A1-7FC8392ED82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32304" y="3913776"/>
                  <a:ext cx="457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CCDCE67-9E2A-D3E3-F5C8-3DF1AEF561C9}"/>
                    </a:ext>
                  </a:extLst>
                </p14:cNvPr>
                <p14:cNvContentPartPr/>
                <p14:nvPr/>
              </p14:nvContentPartPr>
              <p14:xfrm>
                <a:off x="2999304" y="3931776"/>
                <a:ext cx="360" cy="273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CCDCE67-9E2A-D3E3-F5C8-3DF1AEF561C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90304" y="3922776"/>
                  <a:ext cx="18000" cy="29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228BDBE-E312-3A41-3E1F-BD0390B21429}"/>
                  </a:ext>
                </a:extLst>
              </p14:cNvPr>
              <p14:cNvContentPartPr/>
              <p14:nvPr/>
            </p14:nvContentPartPr>
            <p14:xfrm>
              <a:off x="3666744" y="3968496"/>
              <a:ext cx="360" cy="219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228BDBE-E312-3A41-3E1F-BD0390B2142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657744" y="3959496"/>
                <a:ext cx="180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DEC5774-7EB0-378F-BDB0-E078C838BFD7}"/>
                  </a:ext>
                </a:extLst>
              </p14:cNvPr>
              <p14:cNvContentPartPr/>
              <p14:nvPr/>
            </p14:nvContentPartPr>
            <p14:xfrm>
              <a:off x="3950064" y="4508136"/>
              <a:ext cx="5760" cy="9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DEC5774-7EB0-378F-BDB0-E078C838BFD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941064" y="4499136"/>
                <a:ext cx="23400" cy="27000"/>
              </a:xfrm>
              <a:prstGeom prst="rect">
                <a:avLst/>
              </a:prstGeom>
            </p:spPr>
          </p:pic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BD211994-B0B6-6BCC-8DF9-F4CB713AC993}"/>
              </a:ext>
            </a:extLst>
          </p:cNvPr>
          <p:cNvSpPr txBox="1"/>
          <p:nvPr/>
        </p:nvSpPr>
        <p:spPr>
          <a:xfrm>
            <a:off x="3387132" y="4260096"/>
            <a:ext cx="64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q75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7038C8-29F9-7308-14D2-C85786A61FAD}"/>
              </a:ext>
            </a:extLst>
          </p:cNvPr>
          <p:cNvSpPr txBox="1"/>
          <p:nvPr/>
        </p:nvSpPr>
        <p:spPr>
          <a:xfrm>
            <a:off x="2704644" y="4221086"/>
            <a:ext cx="64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q50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BF8981-8D20-4629-AA8C-96D7D490AF22}"/>
              </a:ext>
            </a:extLst>
          </p:cNvPr>
          <p:cNvSpPr txBox="1"/>
          <p:nvPr/>
        </p:nvSpPr>
        <p:spPr>
          <a:xfrm>
            <a:off x="2153610" y="4171578"/>
            <a:ext cx="64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q25</a:t>
            </a:r>
          </a:p>
        </p:txBody>
      </p:sp>
    </p:spTree>
    <p:extLst>
      <p:ext uri="{BB962C8B-B14F-4D97-AF65-F5344CB8AC3E}">
        <p14:creationId xmlns:p14="http://schemas.microsoft.com/office/powerpoint/2010/main" val="2210437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0BD33-5F6C-03C3-296C-AED846064B8A}"/>
              </a:ext>
            </a:extLst>
          </p:cNvPr>
          <p:cNvSpPr txBox="1"/>
          <p:nvPr/>
        </p:nvSpPr>
        <p:spPr>
          <a:xfrm>
            <a:off x="621792" y="420624"/>
            <a:ext cx="109362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the rationale and the previous gating strategy, the following 9 clusters sound more realistic: </a:t>
            </a:r>
          </a:p>
          <a:p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MMB 3 only, sandwich, multi-binding/aggregate </a:t>
            </a:r>
          </a:p>
          <a:p>
            <a:pPr marL="342900" indent="-342900">
              <a:buAutoNum type="arabicParenR"/>
            </a:pPr>
            <a:r>
              <a:rPr lang="en-US" dirty="0"/>
              <a:t>MMB 6 only, sandwich, multi-binding/aggregate</a:t>
            </a:r>
          </a:p>
          <a:p>
            <a:pPr marL="342900" indent="-342900">
              <a:buAutoNum type="arabicParenR"/>
            </a:pPr>
            <a:r>
              <a:rPr lang="en-US" dirty="0"/>
              <a:t>MMB 8 only, sandwich, multi-binding/aggregate</a:t>
            </a:r>
          </a:p>
          <a:p>
            <a:pPr marL="342900" indent="-342900">
              <a:buAutoNum type="arabicParenR"/>
            </a:pPr>
            <a:endParaRPr lang="en-US" dirty="0"/>
          </a:p>
          <a:p>
            <a:r>
              <a:rPr lang="en-US" dirty="0"/>
              <a:t>If we apply the DG window, realistically, we lose DG-only events and filter out noise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9C8C3-D0C8-003A-372D-1602C8C18DEF}"/>
              </a:ext>
            </a:extLst>
          </p:cNvPr>
          <p:cNvSpPr txBox="1"/>
          <p:nvPr/>
        </p:nvSpPr>
        <p:spPr>
          <a:xfrm>
            <a:off x="704088" y="2971800"/>
            <a:ext cx="107716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from the GMM clustering module: </a:t>
            </a:r>
          </a:p>
          <a:p>
            <a:pPr marL="285750" indent="-285750">
              <a:buFontTx/>
              <a:buChar char="-"/>
            </a:pPr>
            <a:r>
              <a:rPr lang="en-US" dirty="0"/>
              <a:t>.JSON files for each patients with detailed information on hard counts, expected counts (posterior weighted), MMB + DG boundaries used, percentiles used, etc.  (show)</a:t>
            </a:r>
          </a:p>
          <a:p>
            <a:pPr marL="285750" indent="-285750">
              <a:buFontTx/>
              <a:buChar char="-"/>
            </a:pPr>
            <a:r>
              <a:rPr lang="en-US" dirty="0"/>
              <a:t>Excel sheet with filtered values, especially with metrics such as sandwich efficiency factor and multi-binding efficiency factor, X = 3, 6, 8 (show)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2D plots with clearly defined boundaries and a clear difference pre-GMM (individual + multi-pane)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1E6C16-8C25-D558-6F5C-463D115D3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111" y="4541460"/>
            <a:ext cx="6675698" cy="103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90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A343C0-0DDD-8033-1874-15E33FE25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596761"/>
            <a:ext cx="5291666" cy="3664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956FD9-A43E-7402-33B0-A2977F7AC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1920875"/>
            <a:ext cx="5291667" cy="30162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9172D1A-0701-875B-A8CA-0777337A2CBB}"/>
                  </a:ext>
                </a:extLst>
              </p14:cNvPr>
              <p14:cNvContentPartPr/>
              <p14:nvPr/>
            </p14:nvContentPartPr>
            <p14:xfrm>
              <a:off x="3842617" y="2560908"/>
              <a:ext cx="1850760" cy="2189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9172D1A-0701-875B-A8CA-0777337A2C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3617" y="2551908"/>
                <a:ext cx="1868400" cy="220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3742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3653B5-4984-61AB-0B70-7532030D6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3" y="0"/>
            <a:ext cx="7837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34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B9A9A8-EBD9-BD01-9066-07B5DA960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0"/>
            <a:ext cx="7772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14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658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Yasar, Samin</dc:creator>
  <cp:lastModifiedBy>Yasar, Samin</cp:lastModifiedBy>
  <cp:revision>3</cp:revision>
  <dcterms:created xsi:type="dcterms:W3CDTF">2026-02-19T00:14:31Z</dcterms:created>
  <dcterms:modified xsi:type="dcterms:W3CDTF">2026-02-20T15:08:25Z</dcterms:modified>
</cp:coreProperties>
</file>